
<file path=[Content_Types].xml><?xml version="1.0" encoding="utf-8"?>
<Types xmlns="http://schemas.openxmlformats.org/package/2006/content-types">
  <Default Extension="bin" ContentType="image/unknown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4227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I'll walk you through the Bluestock Mutual Fund Analytics Platform — a 7-day capstone project covering 40 fund schemes, 46,000+ NAV records, and a full 4-page Power BI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India's MF industry manages Rs.81 lakh crore in AUM across 26 crore folios — yet individual investors lack tools for data-driven decisions. This project addresses 5 core problems through 8 measurable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data sourced from public APIs and AMFI India — no proprietary data used. The investor transaction dataset is synthetically generated for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5-layer architecture mirrors real fintech pipelines used at Zerodha and Groww. Layer L3 stores 80K+ rows in a normalised SQLite star schema — structured for future migration to PostgreSQL.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Charts 1 and 3 from Day 3 EDA. NAV chart shows all 40 fund trajectories; SIP trend confirms India's mutual fund story is structural and long-term.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Demographics and geographic data reveal two key business opportunities: targeting B30 cities for growth, and the 46–55 age segment for high-value SIP retention.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Fund Scorecard aggregates 5 dimensions into one 0-100 score. This allows direct comparison across very different fund types. CAGR is highest-weighted at 30% as it is most relevant to retail investors.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4 analysis revealed that Small Cap funds carry significantly higher tail risk — VaR of 2.8% per day is nearly 2x that of Large Cap. The alpha range shows some funds genuinely outperform the Nifty 100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 1 and 2 are the core analytical views. The drill-through from Page 2 to Nav_Detail page is the showcase interactivity feature — it filters all visuals on the detail page to a single fund.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 3 and 4 focus on investor behaviour and macro market trends. The cross-filtering means every click is interactive — selecting Maharashtra in Page 3 instantly filters age, transaction type, and volume for that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findings distilled from 7 days of analysis. High-priority items (purple) are actionable immediately. The 23% at-risk SIP investors is a direct revenue retention opportunity for Bluestock's product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attending. The full report, ETL pipeline, Jupyter notebooks, and Power BI dashboard are available on GitHub. Happy to take questions on any section — metrics computation, dashboard design, or data pipeline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Report  |  Data Analyst Internship  |  June 2026</a:t>
            </a:r>
            <a:endParaRPr lang="en-US" sz="1000" dirty="0"/>
          </a:p>
        </p:txBody>
      </p:sp>
      <p:pic>
        <p:nvPicPr>
          <p:cNvPr id="4" name="Image 0" descr="./submission/logo int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40080"/>
            <a:ext cx="3291840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984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46888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46888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46,000+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246888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Records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655064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655064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55064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063240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063240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3063240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471416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71416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471416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879592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79592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879592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Built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287768" y="2450592"/>
            <a:ext cx="1353312" cy="822960"/>
          </a:xfrm>
          <a:prstGeom prst="roundRect">
            <a:avLst>
              <a:gd name="adj" fmla="val 8889"/>
            </a:avLst>
          </a:prstGeom>
          <a:solidFill>
            <a:srgbClr val="6D54D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7287768" y="2505456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Rs.81L Cr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287768" y="292608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34564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367588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Sumeet Wagh</a:t>
            </a:r>
            <a:endParaRPr lang="en-US" sz="2800" dirty="0"/>
          </a:p>
        </p:txBody>
      </p:sp>
      <p:sp>
        <p:nvSpPr>
          <p:cNvPr id="27" name="Text 24"/>
          <p:cNvSpPr/>
          <p:nvPr/>
        </p:nvSpPr>
        <p:spPr>
          <a:xfrm>
            <a:off x="457200" y="4114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Intern  •  Bluestock Fintech Pvt. Ltd.  •  June 2026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29" name="Text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  •   bluestock.in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|  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Business Problems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188720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188720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123444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46304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NAV, AUM, SIP data scattered across formats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01952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1901952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194767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1762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risk-adjusted fund comparison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615184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615184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" y="2660904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Benchmark Track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2889504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unaware if fund beats benchmark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3328416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37413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Blind Spot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60273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demographic patterns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4041648"/>
            <a:ext cx="4114800" cy="621792"/>
          </a:xfrm>
          <a:prstGeom prst="roundRect">
            <a:avLst>
              <a:gd name="adj" fmla="val 10294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4041648"/>
            <a:ext cx="475488" cy="621792"/>
          </a:xfrm>
          <a:prstGeom prst="rect">
            <a:avLst/>
          </a:prstGeom>
          <a:solidFill>
            <a:srgbClr val="4A31A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" y="408736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Static Reports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4315968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take days to prepare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63440" y="8046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Project Objectives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1188720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1188720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47488" y="1197864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ETL pipeline (mfapi.in REST API)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1632204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1632204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47488" y="1641348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5-table SQLite star schema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63440" y="2075688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663440" y="2075688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047488" y="2084832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9 EDA charts with insights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2519172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663440" y="2519172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047488" y="2528316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7 risk-adjusted performance metrics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2962656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63440" y="2962656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971800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composite Fund Scorecard (0–100)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406140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663440" y="3406140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047488" y="3415284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4-page Power BI interactive dashboard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849624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663440" y="3849624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O7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047488" y="3858768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VaR/CVaR risk model &amp; fund recommender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663440" y="4293108"/>
            <a:ext cx="41605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663440" y="4293108"/>
            <a:ext cx="347472" cy="365760"/>
          </a:xfrm>
          <a:prstGeom prst="rect">
            <a:avLst/>
          </a:prstGeom>
          <a:solidFill>
            <a:srgbClr val="6D54D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O8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47488" y="4302252"/>
            <a:ext cx="373075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15–20 page report + 12-slide deck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|  Data Sources &amp; Datasets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datasets · 87,000+ total rows · All publicly available sources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7680960" cy="3749042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fund_master.csv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real MF schemes — AMFI codes, expense ratio, risk grade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nav_history.csv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NAV Jan 2022–May 2026 for all 40 schemes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mfapi.in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aum_by_fund_house.csv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AUM for 10 fund houses 2022–2025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Quarterly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monthly_sip_inflows.csv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Month-wise SIP inflow, accounts, AUM — 2022–2025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category_inflows.csv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inflows by fund category — FY 2024-25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industry_folio_count.csv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MF folios by type — Equity, Debt, Hybrid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scheme_performance.csv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1yr/3yr/5yr returns, Sharpe, Sortino, Alpha, Beta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investor_transactions.csv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32,778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 + Lumpsum + Redemption — 5,000 investors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portfolio_holdings.csv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equity holdings per fund as of Dec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8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benchmark_indices.csv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Nifty 50, Nifty 100, BSE SmallCap values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NSE/BSE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|  System Architecture &amp; ETL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Data Engineering Architecture — Extract → Transform → Load → Analyse → Visualise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115568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15568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15568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78992" y="117043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91640" y="11704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mfapi.in REST API, AMFI CSV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1362456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117043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37960" y="11704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raw CSV files + live NAV JSON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97680" y="1682496"/>
            <a:ext cx="73152" cy="91440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1773936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773936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6D54DE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1773936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20482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" y="1828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91640" y="18288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Pandas — clean, reshape, forward-fill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2020824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18288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D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537960" y="18288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cleaned CSVs in data/processed/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97680" y="2340864"/>
            <a:ext cx="73152" cy="91440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040" y="2432304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432304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" y="270662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" y="24871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91640" y="248716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SQLite, SQLAlchemy — star schema, indexes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32120" y="2679192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32" name="Text 30"/>
          <p:cNvSpPr/>
          <p:nvPr/>
        </p:nvSpPr>
        <p:spPr>
          <a:xfrm>
            <a:off x="5897880" y="248716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37960" y="24871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bluestock_mf.db (5 tables, 80K+ rows)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97680" y="2999232"/>
            <a:ext cx="73152" cy="91440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3090672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090672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E67E22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" y="3090672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0040" y="33649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8992" y="31455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691640" y="31455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Jupyter, NumPy, SciPy — metrics, EDA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32120" y="3337560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42" name="Text 40"/>
          <p:cNvSpPr/>
          <p:nvPr/>
        </p:nvSpPr>
        <p:spPr>
          <a:xfrm>
            <a:off x="5897880" y="314553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37960" y="31455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charts, 7 metrics, 5 advanced models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97680" y="3657600"/>
            <a:ext cx="73152" cy="91440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45" name="Shape 43"/>
          <p:cNvSpPr/>
          <p:nvPr/>
        </p:nvSpPr>
        <p:spPr>
          <a:xfrm>
            <a:off x="320040" y="3749040"/>
            <a:ext cx="8503920" cy="566928"/>
          </a:xfrm>
          <a:prstGeom prst="roundRect">
            <a:avLst>
              <a:gd name="adj" fmla="val 11290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20040" y="3749040"/>
            <a:ext cx="658368" cy="566928"/>
          </a:xfrm>
          <a:prstGeom prst="roundRect">
            <a:avLst>
              <a:gd name="adj" fmla="val 11290"/>
            </a:avLst>
          </a:prstGeom>
          <a:solidFill>
            <a:srgbClr val="4A31AE"/>
          </a:solidFill>
          <a:ln/>
        </p:spPr>
      </p:sp>
      <p:sp>
        <p:nvSpPr>
          <p:cNvPr id="47" name="Text 45"/>
          <p:cNvSpPr/>
          <p:nvPr/>
        </p:nvSpPr>
        <p:spPr>
          <a:xfrm>
            <a:off x="320040" y="374904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20040" y="40233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78992" y="38039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691640" y="38039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4 pages, slicers, drill-through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32120" y="3995928"/>
            <a:ext cx="274320" cy="73152"/>
          </a:xfrm>
          <a:prstGeom prst="rect">
            <a:avLst/>
          </a:prstGeom>
          <a:solidFill>
            <a:srgbClr val="C1B0DF"/>
          </a:solidFill>
          <a:ln/>
        </p:spPr>
      </p:sp>
      <p:sp>
        <p:nvSpPr>
          <p:cNvPr id="52" name="Text 50"/>
          <p:cNvSpPr/>
          <p:nvPr/>
        </p:nvSpPr>
        <p:spPr>
          <a:xfrm>
            <a:off x="5897880" y="380390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37960" y="3803904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bluestock_mf_dashboard.pbix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4462272"/>
            <a:ext cx="8503920" cy="256032"/>
          </a:xfrm>
          <a:prstGeom prst="roundRect">
            <a:avLst>
              <a:gd name="adj" fmla="val 17857"/>
            </a:avLst>
          </a:prstGeom>
          <a:solidFill>
            <a:srgbClr val="4A31AE"/>
          </a:solidFill>
          <a:ln/>
        </p:spPr>
      </p:sp>
      <p:sp>
        <p:nvSpPr>
          <p:cNvPr id="55" name="Text 53"/>
          <p:cNvSpPr/>
          <p:nvPr/>
        </p:nvSpPr>
        <p:spPr>
          <a:xfrm>
            <a:off x="320040" y="446227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Star Schema:  dim_fund (40)  •  dim_date (1,500)  •  fact_nav (46,000)  •  fact_transactions (32,778)  •  fact_performance (40)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7" name="Text 5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|  EDA Highlights — NAV Trends &amp; SIP Growth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publication-quality charts produced using Plotly, Seaborn &amp; Matplotlib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4160520" cy="2377440"/>
          </a:xfrm>
          <a:prstGeom prst="roundRect">
            <a:avLst>
              <a:gd name="adj" fmla="val 3846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097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1: NAV Trend — All 40 Schemes (2022–2026)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922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YOUR NAV TREND CHART IMAGE HERE 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231136"/>
            <a:ext cx="39776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304288"/>
            <a:ext cx="3794760" cy="10241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
</a:t>
            </a: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40 NAVs grew 2x–3x over 4 years. 2023 bull run drove 15–22% gains. Oct–Nov 2024 correction was brief at ~7%.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97280"/>
            <a:ext cx="4160520" cy="2377440"/>
          </a:xfrm>
          <a:prstGeom prst="roundRect">
            <a:avLst>
              <a:gd name="adj" fmla="val 3846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0972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5179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3: Monthly SIP Inflow Trend (2022–2025)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1792224"/>
            <a:ext cx="3977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YOUR SIP INFLOW CHART IMAGE HERE 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2231136"/>
            <a:ext cx="39776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2304288"/>
            <a:ext cx="3794760" cy="10241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
</a:t>
            </a:r>
            <a:r>
              <a:rPr lang="en-US" sz="9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tripled from Rs.11,000 Cr to Rs.31,002 Cr — structural retail savings behaviour, not a cyclical spike.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|  EDA Highlights — Demographics &amp; Geography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778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5: Investor Age Demographics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115568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E8E2F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1155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AGE DEMOGRAPHICS CHART 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2236298"/>
            <a:ext cx="3977640" cy="36059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has most investors. But 46–55 cohort invests highest median SIP at Rs.12,000/mo — wealth concentration in experienced investors.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87782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6: Geographic Distribution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88801" y="1078992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E8E2F6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754880" y="111556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2236298"/>
            <a:ext cx="3977640" cy="36059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SIP value from T30 cities. Maharashtra alone contributes 20%+. B30 share growing at 28% as AMFI commission incentives kick in.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83464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28895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7: Folio Count Growth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127248"/>
            <a:ext cx="3977640" cy="713232"/>
          </a:xfrm>
          <a:prstGeom prst="roundRect">
            <a:avLst>
              <a:gd name="adj" fmla="val 6410"/>
            </a:avLst>
          </a:prstGeom>
          <a:solidFill>
            <a:srgbClr val="E8E2F6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272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FOLIO GROWTH CHART ]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4320540"/>
            <a:ext cx="39776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 doubled from 13.26 Cr to 26.12 Cr in 4 years — 18.5% CAGR. Driven by Zerodha Coin, Groww, Paytm Money democratising access.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663440" y="283464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88950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8: NAV Return Correlation Matrix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71841" y="3108960"/>
            <a:ext cx="3977640" cy="713232"/>
          </a:xfrm>
          <a:prstGeom prst="roundRect">
            <a:avLst>
              <a:gd name="adj" fmla="val 0"/>
            </a:avLst>
          </a:prstGeom>
          <a:solidFill>
            <a:srgbClr val="E8E2F6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127248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0" y="4320540"/>
            <a:ext cx="39776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funds correlate at 0.85–0.95. Holding SBI Bluechip + HDFC Top 100 + ICICI Bluechip gives almost zero diversification benefit.</a:t>
            </a:r>
            <a:endParaRPr lang="en-US" sz="8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4ED035A-D77F-4519-B603-25E68FEF2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19" y="1118499"/>
            <a:ext cx="3994601" cy="105777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F3AC008F-5F3F-4CC7-BEB9-26BA5C2AB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801" y="1078992"/>
            <a:ext cx="3960680" cy="112073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7C5DBC0-9BC2-4445-9842-D61743F8F9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6331" y="3104978"/>
            <a:ext cx="3966189" cy="121556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1D72D378-F561-4A87-A481-7595CE01DE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109551"/>
            <a:ext cx="3977640" cy="1210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|  Performance Metrics — Fund Scorecard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777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Risk-Adjusted Metrics Computed from 46,000+ Daily NAV Records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5074920" cy="29260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/ Method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1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Return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navₜ / navₜ₋₁ − 1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metric for all calculations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(NAVₑₙd/NAVₛₜₐᵣₜ)^(1/n) − 1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Annualised return over 1/3/5 years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(Rp − Rf) / σp × √252,  Rf = 6.5%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Risk-adjusted return vs RBI rate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Sortino Ratio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(Rp − Rf) / σdown × √252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Penalises only downside volatility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intercept × 252  (vs Nifty 100)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Excess return above benchmark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 slope  (fund vs Nifty 100)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sensitivity (1.0 = market)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Drawdown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min(NAV / running_max_NAV − 1)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14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peak-to-trough loss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1B0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5"/>
          <p:cNvSpPr/>
          <p:nvPr/>
        </p:nvSpPr>
        <p:spPr>
          <a:xfrm>
            <a:off x="5577840" y="777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Weights (0–100)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77840" y="107899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 CAGR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298448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11" name="Shape 8"/>
          <p:cNvSpPr/>
          <p:nvPr/>
        </p:nvSpPr>
        <p:spPr>
          <a:xfrm>
            <a:off x="5577840" y="1298448"/>
            <a:ext cx="905256" cy="182880"/>
          </a:xfrm>
          <a:prstGeom prst="roundRect">
            <a:avLst>
              <a:gd name="adj" fmla="val 20000"/>
            </a:avLst>
          </a:prstGeom>
          <a:solidFill>
            <a:srgbClr val="4A31AE"/>
          </a:solidFill>
          <a:ln/>
        </p:spPr>
      </p:sp>
      <p:sp>
        <p:nvSpPr>
          <p:cNvPr id="12" name="Text 9"/>
          <p:cNvSpPr/>
          <p:nvPr/>
        </p:nvSpPr>
        <p:spPr>
          <a:xfrm>
            <a:off x="6528816" y="12801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77840" y="1591056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577840" y="1810512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15" name="Shape 12"/>
          <p:cNvSpPr/>
          <p:nvPr/>
        </p:nvSpPr>
        <p:spPr>
          <a:xfrm>
            <a:off x="5577840" y="1810512"/>
            <a:ext cx="754380" cy="182880"/>
          </a:xfrm>
          <a:prstGeom prst="roundRect">
            <a:avLst>
              <a:gd name="adj" fmla="val 20000"/>
            </a:avLst>
          </a:prstGeom>
          <a:solidFill>
            <a:srgbClr val="6D54DE"/>
          </a:solidFill>
          <a:ln/>
        </p:spPr>
      </p:sp>
      <p:sp>
        <p:nvSpPr>
          <p:cNvPr id="16" name="Text 13"/>
          <p:cNvSpPr/>
          <p:nvPr/>
        </p:nvSpPr>
        <p:spPr>
          <a:xfrm>
            <a:off x="6377940" y="17922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D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577840" y="210312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577840" y="2322576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19" name="Shape 16"/>
          <p:cNvSpPr/>
          <p:nvPr/>
        </p:nvSpPr>
        <p:spPr>
          <a:xfrm>
            <a:off x="5577840" y="2322576"/>
            <a:ext cx="603504" cy="182880"/>
          </a:xfrm>
          <a:prstGeom prst="roundRect">
            <a:avLst>
              <a:gd name="adj" fmla="val 20000"/>
            </a:avLst>
          </a:prstGeom>
          <a:solidFill>
            <a:srgbClr val="9B59B6"/>
          </a:solidFill>
          <a:ln/>
        </p:spPr>
      </p:sp>
      <p:sp>
        <p:nvSpPr>
          <p:cNvPr id="20" name="Text 17"/>
          <p:cNvSpPr/>
          <p:nvPr/>
        </p:nvSpPr>
        <p:spPr>
          <a:xfrm>
            <a:off x="6227064" y="23042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577840" y="2615184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577840" y="2834640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23" name="Shape 20"/>
          <p:cNvSpPr/>
          <p:nvPr/>
        </p:nvSpPr>
        <p:spPr>
          <a:xfrm>
            <a:off x="5577840" y="2834640"/>
            <a:ext cx="452628" cy="18288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/>
        </p:spPr>
      </p:sp>
      <p:sp>
        <p:nvSpPr>
          <p:cNvPr id="24" name="Text 21"/>
          <p:cNvSpPr/>
          <p:nvPr/>
        </p:nvSpPr>
        <p:spPr>
          <a:xfrm>
            <a:off x="6076188" y="28163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577840" y="3127248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577840" y="3346704"/>
            <a:ext cx="3017520" cy="182880"/>
          </a:xfrm>
          <a:prstGeom prst="roundRect">
            <a:avLst>
              <a:gd name="adj" fmla="val 20000"/>
            </a:avLst>
          </a:prstGeom>
          <a:solidFill>
            <a:srgbClr val="EDE9F8"/>
          </a:solidFill>
          <a:ln/>
        </p:spPr>
      </p:sp>
      <p:sp>
        <p:nvSpPr>
          <p:cNvPr id="27" name="Shape 24"/>
          <p:cNvSpPr/>
          <p:nvPr/>
        </p:nvSpPr>
        <p:spPr>
          <a:xfrm>
            <a:off x="5577840" y="334670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/>
        </p:spPr>
      </p:sp>
      <p:sp>
        <p:nvSpPr>
          <p:cNvPr id="28" name="Text 25"/>
          <p:cNvSpPr/>
          <p:nvPr/>
        </p:nvSpPr>
        <p:spPr>
          <a:xfrm>
            <a:off x="5925312" y="33284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577840" y="3767328"/>
            <a:ext cx="3246120" cy="713232"/>
          </a:xfrm>
          <a:prstGeom prst="roundRect">
            <a:avLst>
              <a:gd name="adj" fmla="val 11538"/>
            </a:avLst>
          </a:prstGeom>
          <a:solidFill>
            <a:srgbClr val="4A31AE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577840" y="378561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Scorecard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623560" y="4005072"/>
            <a:ext cx="31546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rank across 5 metrics → single 0–100 score for every fund scheme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33" name="Text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|  Benchmark Comparison &amp; Risk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389120" cy="2788920"/>
          </a:xfrm>
          <a:prstGeom prst="roundRect">
            <a:avLst>
              <a:gd name="adj" fmla="val 3279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8778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8: Benchmark Comparison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152144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NAV vs BENCHMARK COMPARISON CHART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SCORECARD TOP-10 TABLE IMAGE HERE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9204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Findings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92040" y="1170432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83480" y="12344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Range: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121615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 – 1.89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14721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= better risk-adjusted return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92040" y="1847088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191109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Range: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18928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D5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-4.2% to +8.7%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214884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= beats Nifty 100 benchmark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92040" y="2523744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258775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Range: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766560" y="256946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– 1.35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28254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= less volatile than market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3200400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326440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0" y="324612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-18% to -42%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83480" y="3502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 worst in Oct–Nov 2024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749040"/>
            <a:ext cx="8503920" cy="658368"/>
          </a:xfrm>
          <a:prstGeom prst="roundRect">
            <a:avLst>
              <a:gd name="adj" fmla="val 11111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11480" y="3767328"/>
            <a:ext cx="8321040" cy="60350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VaR (95%):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Cap: −2.1% to −2.8% daily  •  Large Cap: −1.3% to −1.6% daily  •  </a:t>
            </a:r>
            <a:r>
              <a:rPr lang="en-US" sz="9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is 1.3–1.5× worse than VaR — fat tail risk persists in mid/small cap funds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030C349-F60F-4F98-BDCD-67668F101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39" y="1170790"/>
            <a:ext cx="3964366" cy="23130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|  Power BI Dashboard — Page 1 &amp;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dashboard · Cross-filterable · Drill-through enabled · Bluestock brand theme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026782"/>
            <a:ext cx="4206240" cy="2730222"/>
          </a:xfrm>
          <a:prstGeom prst="roundRect">
            <a:avLst>
              <a:gd name="adj" fmla="val 3509"/>
            </a:avLst>
          </a:prstGeom>
          <a:solidFill>
            <a:srgbClr val="2A1F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78992"/>
            <a:ext cx="4206240" cy="292608"/>
          </a:xfrm>
          <a:prstGeom prst="roundRect">
            <a:avLst>
              <a:gd name="adj" fmla="val 25000"/>
            </a:avLst>
          </a:prstGeom>
          <a:solidFill>
            <a:srgbClr val="4A31AE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Industry 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DASHBOARD PAGE 1 SCREENSHOT HERE 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35101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Slicer: Year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83503" y="35204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KPI cards  •  AUM trend line  •  AUM by AMC bar  •  Market share donut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709160" y="1078992"/>
            <a:ext cx="4206240" cy="2678012"/>
          </a:xfrm>
          <a:prstGeom prst="roundRect">
            <a:avLst>
              <a:gd name="adj" fmla="val 3509"/>
            </a:avLst>
          </a:prstGeom>
          <a:solidFill>
            <a:srgbClr val="2A1F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078992"/>
            <a:ext cx="4206240" cy="292608"/>
          </a:xfrm>
          <a:prstGeom prst="roundRect">
            <a:avLst>
              <a:gd name="adj" fmla="val 25000"/>
            </a:avLst>
          </a:prstGeom>
          <a:solidFill>
            <a:srgbClr val="4A31AE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078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Fund Performance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389888"/>
            <a:ext cx="4023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DASHBOARD PAGE 2 SCREENSHOT HERE 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16027" y="35295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Fund House, Category, Plan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82553" y="35558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vs Return scatter  •  Scorecard table  •  NAV line chart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0040" y="3931920"/>
            <a:ext cx="8503920" cy="621792"/>
          </a:xfrm>
          <a:prstGeom prst="roundRect">
            <a:avLst>
              <a:gd name="adj" fmla="val 10294"/>
            </a:avLst>
          </a:prstGeom>
          <a:solidFill>
            <a:srgbClr val="6D54DE">
              <a:alpha val="4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950208"/>
            <a:ext cx="8321040" cy="566928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Drill-Through: 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any fund name in Page 2 table → </a:t>
            </a: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through → Nav_Detail  </a:t>
            </a:r>
            <a:r>
              <a:rPr lang="en-US" sz="9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opens fund-specific NAV trend + metrics page filtered automatically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74C7640-6368-45D1-A730-743F41425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94" y="1433690"/>
            <a:ext cx="3922331" cy="207760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4A76AB2-8A65-44CC-8867-05AF13E3B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467" y="1433690"/>
            <a:ext cx="3809625" cy="20958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Power BI Dashboard — Page 3 &amp; 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206240" cy="2606040"/>
          </a:xfrm>
          <a:prstGeom prst="roundRect">
            <a:avLst>
              <a:gd name="adj" fmla="val 3509"/>
            </a:avLst>
          </a:prstGeom>
          <a:solidFill>
            <a:srgbClr val="2A1F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4206240" cy="292608"/>
          </a:xfrm>
          <a:prstGeom prst="roundRect">
            <a:avLst>
              <a:gd name="adj" fmla="val 25000"/>
            </a:avLst>
          </a:prstGeom>
          <a:solidFill>
            <a:srgbClr val="4A31A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Investor Analytics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133856"/>
            <a:ext cx="40233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DASHBOARD PAGE 3 SCREENSHOT HERE ]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4340" y="32049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State, Age Group, City Tier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446020" y="32049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by state  •  SIP/Lump/Redemption donut  •  Age group bar  •  Volume line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709160" y="822960"/>
            <a:ext cx="4206240" cy="2606040"/>
          </a:xfrm>
          <a:prstGeom prst="roundRect">
            <a:avLst>
              <a:gd name="adj" fmla="val 3509"/>
            </a:avLst>
          </a:prstGeom>
          <a:solidFill>
            <a:srgbClr val="2A1F5A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22960"/>
            <a:ext cx="4206240" cy="292608"/>
          </a:xfrm>
          <a:prstGeom prst="roundRect">
            <a:avLst>
              <a:gd name="adj" fmla="val 25000"/>
            </a:avLst>
          </a:prstGeom>
          <a:solidFill>
            <a:srgbClr val="4A31AE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229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SIP &amp; Market Trends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00600" y="1133856"/>
            <a:ext cx="40233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DASHBOARD PAGE 4 SCREENSHOT HERE 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0" y="32049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slicer (full-period view)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766560" y="320497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 bar + Nifty 50 dual-axis  •  Category heatmap  •  Top 5 bar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8503920" cy="219456"/>
          </a:xfrm>
          <a:prstGeom prst="roundRect">
            <a:avLst>
              <a:gd name="adj" fmla="val 16667"/>
            </a:avLst>
          </a:prstGeom>
          <a:solidFill>
            <a:srgbClr val="4A31AE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657600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Cards:  Rs.81L Cr Total AUM  •  Rs.31K Cr SIP Inflow  •  26.12 Cr Folios  •  1,908 Schemes  •  9.35 Cr Active SIP A/Cs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396849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6D54DE">
              <a:alpha val="3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40050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Cross-Filtering: 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645920" y="4005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visual to filter all others on the page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63440" y="396849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6D54DE">
              <a:alpha val="3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40050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Tooltips: 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any chart point → scheme name, Sharpe, Alpha, AUM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442569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6D54DE">
              <a:alpha val="3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4622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Drill-Through: 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45920" y="4462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fund → Nav_Detail page filtered to that fund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4425696"/>
            <a:ext cx="4160520" cy="384048"/>
          </a:xfrm>
          <a:prstGeom prst="roundRect">
            <a:avLst>
              <a:gd name="adj" fmla="val 14286"/>
            </a:avLst>
          </a:prstGeom>
          <a:solidFill>
            <a:srgbClr val="6D54DE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462272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Slicers: 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989320" y="4462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House / Category / Plan / State / Age / City Tier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4B8EB77-5025-41D9-8EE2-3A7CD5BA1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46" y="1173824"/>
            <a:ext cx="3887674" cy="1976284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78B0EA7-117D-4A43-B0C3-0CE5C4518D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77619"/>
            <a:ext cx="4023359" cy="19724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|  10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DE9F8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June 2026  |  Confidential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82296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22960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8229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86200" y="85953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8595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22376" y="850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 Is Structural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2376" y="10424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Inflows 3× from Rs.11K→Rs.31K Cr with no reversal, even during corrections.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22960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822960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859536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85953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65776" y="8503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Unassailable AUM Lead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65776" y="1042416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doubled to Rs.12.5L Cr in 3 yrs via govt-bank B30 distribution.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" y="1389888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1389888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13898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86200" y="14264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886200" y="14264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22376" y="1417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 Participation Doubled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2376" y="16093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Folios: 13.26 Cr → 26.12 Cr, 18.5% CAGR — digital platforms key driver.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1389888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1389888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1389888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1426464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0" y="142646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065776" y="14173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Cap Over-Correlated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065776" y="1609344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0.85–0.95 correlation means SBI Bluechip + HDFC Top 100 = no diversification.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0040" y="1956816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" y="1956816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195681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886200" y="199339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3886200" y="19933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22376" y="19842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BFSI+IT = 50% Portfolio Risk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2376" y="21762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32% + IT 18% — sector concentration creates systemic risk.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63440" y="1956816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1956816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1956816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229600" y="1993392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0" y="199339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065776" y="19842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Dominate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065776" y="2176272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SIP value from T30. Maharashtra 20%+. B30 growing at 28% share.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20040" y="2523744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2523744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50" name="Text 48"/>
          <p:cNvSpPr/>
          <p:nvPr/>
        </p:nvSpPr>
        <p:spPr>
          <a:xfrm>
            <a:off x="320040" y="252374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886200" y="256032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3886200" y="25603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722376" y="25511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Tax-Season ELSS Spike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2376" y="27432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Jan–Mar surge driven by 80C tax-saving deadline Mar 31.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663440" y="2523744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663440" y="2523744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4A31AE"/>
          </a:solidFill>
          <a:ln/>
        </p:spPr>
      </p:sp>
      <p:sp>
        <p:nvSpPr>
          <p:cNvPr id="57" name="Text 55"/>
          <p:cNvSpPr/>
          <p:nvPr/>
        </p:nvSpPr>
        <p:spPr>
          <a:xfrm>
            <a:off x="4663440" y="2523744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229600" y="2560320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4A31AE">
              <a:alpha val="7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229600" y="25603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A31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065776" y="25511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Bull Run Rewarded SIPs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065776" y="2743200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investors averaged into low NAVs in 2022 → captured 15–22% recovery.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20040" y="3090672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20040" y="3090672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64" name="Text 62"/>
          <p:cNvSpPr/>
          <p:nvPr/>
        </p:nvSpPr>
        <p:spPr>
          <a:xfrm>
            <a:off x="320040" y="309067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886200" y="312724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3886200" y="31272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22376" y="31181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Investors Invest Most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22376" y="33101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46–55 age: Rs.12,000/mo median SIP vs Rs.5,000 for 26–35.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4663440" y="3090672"/>
            <a:ext cx="4160520" cy="475488"/>
          </a:xfrm>
          <a:prstGeom prst="roundRect">
            <a:avLst>
              <a:gd name="adj" fmla="val 11538"/>
            </a:avLst>
          </a:prstGeom>
          <a:solidFill>
            <a:srgbClr val="EDE9F8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663440" y="3090672"/>
            <a:ext cx="347472" cy="475488"/>
          </a:xfrm>
          <a:prstGeom prst="roundRect">
            <a:avLst>
              <a:gd name="adj" fmla="val 15789"/>
            </a:avLst>
          </a:prstGeom>
          <a:solidFill>
            <a:srgbClr val="F5A623"/>
          </a:solidFill>
          <a:ln/>
        </p:spPr>
      </p:sp>
      <p:sp>
        <p:nvSpPr>
          <p:cNvPr id="71" name="Text 69"/>
          <p:cNvSpPr/>
          <p:nvPr/>
        </p:nvSpPr>
        <p:spPr>
          <a:xfrm>
            <a:off x="4663440" y="3090672"/>
            <a:ext cx="3474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229600" y="3127248"/>
            <a:ext cx="530352" cy="182880"/>
          </a:xfrm>
          <a:prstGeom prst="roundRect">
            <a:avLst>
              <a:gd name="adj" fmla="val 20000"/>
            </a:avLst>
          </a:prstGeom>
          <a:solidFill>
            <a:srgbClr val="F5A623">
              <a:alpha val="7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8229600" y="312724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065776" y="311810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14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SIP Investors At-Risk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5065776" y="3310128"/>
            <a:ext cx="3703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6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 SIP gap &gt; 35 days — need targeted re-engagement campaigns.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Pvt. Ltd.  |  Mutual Fund Analytics Platform  |  Capstone Project</a:t>
            </a:r>
            <a:endParaRPr lang="en-US" sz="1000" dirty="0"/>
          </a:p>
        </p:txBody>
      </p:sp>
      <p:pic>
        <p:nvPicPr>
          <p:cNvPr id="4" name="Image 0" descr="./submission/logo int.web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621792"/>
            <a:ext cx="3291840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828800" y="2212848"/>
            <a:ext cx="5486400" cy="36576"/>
          </a:xfrm>
          <a:prstGeom prst="rect">
            <a:avLst/>
          </a:prstGeom>
          <a:solidFill>
            <a:srgbClr val="6D54DE"/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2359152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6D54DE">
              <a:alpha val="3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395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720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github.com/sumeetwagh01/bluestock_mf_capstone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91840" y="2359152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6D54DE">
              <a:alpha val="3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395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29184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sumeetwagh01@gmail.com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2359152"/>
            <a:ext cx="2651760" cy="731520"/>
          </a:xfrm>
          <a:prstGeom prst="roundRect">
            <a:avLst>
              <a:gd name="adj" fmla="val 10000"/>
            </a:avLst>
          </a:prstGeom>
          <a:solidFill>
            <a:srgbClr val="6D54DE">
              <a:alpha val="3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23957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Website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26480" y="2651760"/>
            <a:ext cx="265176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bluestock.in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" y="324612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4A31AE">
              <a:alpha val="70000"/>
            </a:srgbClr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7200" y="3291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 Summary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94360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94360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94360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.py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1746504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746504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746504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1746504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.db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2898648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898648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2898648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Notebook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898648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4050792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4050792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050792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Metrics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050792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.ipynb+CSV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202936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5202936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202936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5202936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.pbix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6355080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6355080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6355080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 Analytics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6355080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7507224" y="3584448"/>
            <a:ext cx="1078992" cy="713232"/>
          </a:xfrm>
          <a:prstGeom prst="roundRect">
            <a:avLst>
              <a:gd name="adj" fmla="val 8974"/>
            </a:avLst>
          </a:prstGeom>
          <a:solidFill>
            <a:srgbClr val="1E1446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507224" y="360273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507224" y="3785616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Report+Slides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507224" y="4005072"/>
            <a:ext cx="1078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.pdf+.pptx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31AE"/>
          </a:solidFill>
          <a:ln/>
        </p:spPr>
      </p:sp>
      <p:sp>
        <p:nvSpPr>
          <p:cNvPr id="48" name="Text 4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1B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Status: COMPLETE  •  GitHub Tag: v1.0  •  Confidential — Bluestock Fintech Pvt. Ltd.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2424</Words>
  <Application>Microsoft Office PowerPoint</Application>
  <PresentationFormat>On-screen Show (16:9)</PresentationFormat>
  <Paragraphs>359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MF Analytics Platform</dc:title>
  <dc:subject>PptxGenJS Presentation</dc:subject>
  <dc:creator>Sumeet Wagh</dc:creator>
  <cp:lastModifiedBy>Sumeet Wagh</cp:lastModifiedBy>
  <cp:revision>4</cp:revision>
  <dcterms:created xsi:type="dcterms:W3CDTF">2026-06-11T14:17:44Z</dcterms:created>
  <dcterms:modified xsi:type="dcterms:W3CDTF">2026-06-11T15:20:09Z</dcterms:modified>
</cp:coreProperties>
</file>