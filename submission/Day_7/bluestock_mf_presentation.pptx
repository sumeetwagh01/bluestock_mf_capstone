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22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I'll walk you through the Bluestock Mutual Fund Analytics Platform — a 7-day capstone project covering 40 fund schemes, 46,000+ NAV records, and a full 4-page Power BI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MF industry manages Rs.81 lakh crore in AUM across 26 crore folios — yet individual investors lack tools for data-driven decisions. This project addresses 5 core problems through 8 measurable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sourced from public APIs and AMFI India — no proprietary data used. The investor transaction dataset is synthetically generated for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5-layer architecture mirrors real fintech pipelines used at Zerodha and Groww. Layer L3 stores 80K+ rows in a normalised SQLite star schema — structured for future migration to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 1 and 3 from Day 3 EDA. NAV chart shows all 40 fund trajectories; SIP trend confirms India's mutual fund story is structural and long-term.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Demographics and geographic data reveal two key business opportunities: targeting B30 cities for growth, and the 46–55 age segment for high-value SIP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 Scorecard aggregates 5 dimensions into one 0-100 score. This allows direct comparison across very different fund types. CAGR is highest-weighted at 30% as it is most relevant to retail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 analysis revealed that Small Cap funds carry significantly higher tail risk — VaR of 2.8% per day is nearly 2x that of Large Cap. The alpha range shows some funds genuinely outperform the Nifty 100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1 and 2 are the core analytical views. The drill-through from Page 2 to Nav_Detail page is the showcase interactivity feature — it filters all visuals on the detail page to a single fund.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3 and 4 focus on investor behaviour and macro market trends. The cross-filtering means every click is interactive — selecting Maharashtra in Page 3 instantly filters age, transaction type, and volume for that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findings distilled from 7 days of analysis. High-priority items (purple) are actionable immediately. The 23% at-risk SIP investors is a direct revenue retention opportunity for Bluestock's product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attending. The full report, ETL pipeline, Jupyter notebooks, and Power BI dashboard are available on GitHub. Happy to take questions on any section — metrics computation, dashboard design, or data pipeline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Report  |  Data Analyst Internship  |  June 2026</a:t>
            </a:r>
            <a:endParaRPr lang="en-US" sz="1000" dirty="0"/>
          </a:p>
        </p:txBody>
      </p:sp>
      <p:pic>
        <p:nvPicPr>
          <p:cNvPr id="4" name="Image 0" descr="./submission/logo int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40080"/>
            <a:ext cx="329184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6888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46888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46,000+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46888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55064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655064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55064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63240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63240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063240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71416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71416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71416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79592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79592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879592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Built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287768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87768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Rs.81L Cr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287768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36758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Sumeet Wagh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•  Bluestock Fintech Pvt. Ltd.  •  June 2026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29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 •   bluestock.in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Business Problems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23444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4630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SIP data scattered across formats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901952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476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1762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risk-adjusted fund comparison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615184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6609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8895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unaware if fund beats 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328416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3741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Blind Spot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6027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demographic patterns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041648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4041648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408736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Static Reports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43159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take days to prepare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8046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Project Objectives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1188720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47488" y="1197864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ETL pipeline (mfapi.in REST API)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632204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1632204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47488" y="1641348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5-table SQLite star schema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075688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075688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47488" y="2084832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9 EDA charts with insights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519172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2519172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47488" y="2528316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7 risk-adjusted performance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962656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63440" y="2962656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971800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composite Fund Scorecard (0–100)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406140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63440" y="3406140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47488" y="3415284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4-page Power BI interactive dashboard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849624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63440" y="3849624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47488" y="3858768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VaR/CVaR risk model &amp; fund recommender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293108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63440" y="4293108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47488" y="4302252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15–20 page report + 12-slide deck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|  Data Sources &amp; Datasets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 · 87,000+ total rows · All publicly available sources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7680960" cy="374904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real MF schemes — AMFI codes, expense ratio, risk 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Jan 2022–May 2026 for all 40 schemes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mfapi.in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aum_by_fund_house.csv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for 10 fund houses 2022–2025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Quarterly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monthly_sip_inflows.csv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Month-wise SIP inflow, accounts, AUM — 2022–2025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category_inflows.csv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inflows by fund category — FY 2024-25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industry_folio_count.csv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MF folios by type — Equity, Debt, Hybrid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1yr/3yr/5yr returns, Sharpe, Sortino, Alpha, Beta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+ Lumpsum + Redemption — 5,000 investors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portfolio_holdings.csv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equity holdings per fund as of Dec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Nifty 50, Nifty 100, BSE SmallCap values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NSE/BSE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|  System Architecture &amp; ETL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Data Engineering Architecture — Extract → Transform → Load → Analyse → Visualise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8992" y="1170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1170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mfapi.in REST API, AMFI CSV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362456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1704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37960" y="11704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CSV files + live NAV JSON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682496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1773936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773936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6D54D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7739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048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" y="1828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1828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 — clean, reshape, forward-fill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2020824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1828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37960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cleaned CSVs in data/processed/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340864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2432304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32304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27066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" y="2487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91640" y="2487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SQLAlchemy — star schema, indexes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2679192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24871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2487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 (5 tables, 80K+ rows)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97680" y="2999232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3090672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090672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0906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0040" y="3364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8992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91640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Jupyter, NumPy, SciPy — metrics, EDA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32120" y="3337560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42" name="Text 40"/>
          <p:cNvSpPr/>
          <p:nvPr/>
        </p:nvSpPr>
        <p:spPr>
          <a:xfrm>
            <a:off x="5897880" y="3145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37960" y="31455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charts, 7 metrics, 5 advanced models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97680" y="3657600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45" name="Shape 43"/>
          <p:cNvSpPr/>
          <p:nvPr/>
        </p:nvSpPr>
        <p:spPr>
          <a:xfrm>
            <a:off x="320040" y="3749040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749040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4A31AE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7490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0040" y="4023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78992" y="3803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691640" y="3803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4 pages, slicers, drill-through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32120" y="3995928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52" name="Text 50"/>
          <p:cNvSpPr/>
          <p:nvPr/>
        </p:nvSpPr>
        <p:spPr>
          <a:xfrm>
            <a:off x="5897880" y="38039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37960" y="3803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bluestock_mf_dashboard.pbix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46227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4A31AE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Star Schema:  dim_fund (40)  •  dim_date (1,500)  •  fact_nav (46,000)  •  fact_transactions (32,778)  •  fact_performance (40)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7" name="Text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|  EDA Highlights — NAV Trends &amp; SIP Growth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publication-quality charts produced using Plotly, Seaborn &amp; Matplotlib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80298"/>
            <a:ext cx="4160520" cy="3716594"/>
          </a:xfrm>
          <a:prstGeom prst="roundRect">
            <a:avLst>
              <a:gd name="adj" fmla="val 3846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97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1: NAV Trend — All 40 Schemes (2022–2026)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92224"/>
            <a:ext cx="3977640" cy="1299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3971825"/>
            <a:ext cx="3977640" cy="743150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791431"/>
            <a:ext cx="3794760" cy="10241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
</a:t>
            </a: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NAVs grew 2x–3x over 4 years. 2023 bull run drove 15–22% gains. Oct–Nov 2024 correction was brief at ~7%.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60520" cy="3718279"/>
          </a:xfrm>
          <a:prstGeom prst="roundRect">
            <a:avLst>
              <a:gd name="adj" fmla="val 3846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663440" y="1097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517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3: Monthly SIP Inflow Trend (2022–2025)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7922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971825"/>
            <a:ext cx="3977640" cy="743150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820338"/>
            <a:ext cx="3794760" cy="10241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
</a:t>
            </a: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tripled from Rs.11,000 Cr to Rs.31,002 Cr — structural retail savings behaviour, not a cyclical spike.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98FCC86-B74B-4B21-B73D-A08B02E91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1775958"/>
            <a:ext cx="3794760" cy="20807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DBD2C97-1CC5-4787-A9A1-549162A8C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5918"/>
            <a:ext cx="3794759" cy="20308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|  EDA Highlights — Demographics &amp; Geography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778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5: Investor Age Demographics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E8E2F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155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AGE DEMOGRAPHICS CHART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236298"/>
            <a:ext cx="3977640" cy="36059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has most investors. But 46–55 cohort invests highest median SIP at Rs.12,000/mo — wealth concentration in experienced investors.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8778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6: Geographic Distribution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88801" y="1078992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E8E2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754880" y="11155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2236298"/>
            <a:ext cx="3977640" cy="36059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SIP value from T30 cities. Maharashtra alone contributes 20%+. B30 share growing at 28% as AMFI commission incentives kick in.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8895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7: Folio Count Growth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27248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E8E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272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FOLIO GROWTH CHART 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4320540"/>
            <a:ext cx="39776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doubled from 13.26 Cr to 26.12 Cr in 4 years — 18.5% CAGR. Driven by Zerodha Coin, Groww, Paytm Money democratising access.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8895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8: NAV Return Correlation Matrix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1841" y="3108960"/>
            <a:ext cx="3977640" cy="713232"/>
          </a:xfrm>
          <a:prstGeom prst="roundRect">
            <a:avLst>
              <a:gd name="adj" fmla="val 0"/>
            </a:avLst>
          </a:prstGeom>
          <a:solidFill>
            <a:srgbClr val="E8E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1272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4320540"/>
            <a:ext cx="39776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funds correlate at 0.85–0.95. Holding SBI Bluechip + HDFC Top 100 + ICICI Bluechip gives almost zero diversification benefit.</a:t>
            </a:r>
            <a:endParaRPr lang="en-US" sz="8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4ED035A-D77F-4519-B603-25E68FEF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19" y="1118499"/>
            <a:ext cx="3994601" cy="105777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3AC008F-5F3F-4CC7-BEB9-26BA5C2AB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801" y="1078992"/>
            <a:ext cx="3960680" cy="112073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C5DBC0-9BC2-4445-9842-D61743F8F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31" y="3104978"/>
            <a:ext cx="3966189" cy="121556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72D378-F561-4A87-A481-7595CE01D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09551"/>
            <a:ext cx="3977640" cy="1210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|  Performance Metrics — Fund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Risk-Adjusted Metrics Computed from 46,000+ Daily NAV Records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507492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Return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navₜ / navₜ₋₁ − 1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metric for all calculations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(NAVₑₙd/NAVₛₜₐᵣₜ)^(1/n) − 1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Annualised return over 1/3/5 years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Rf) / σp × √252,  Rf = 6.5%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Risk-adjusted return vs RBI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Rf) / σdown × √252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Penalises only downside volatility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intercept × 252  (vs Nifty 100)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 above benchmark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slope  (fund vs Nifty 100)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sensitivity (1.0 = market)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min(NAV / running_max_NAV − 1)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peak-to-trough loss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5577840" y="777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Weights (0–100)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7840" y="10789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 CAGR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298448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11" name="Shape 8"/>
          <p:cNvSpPr/>
          <p:nvPr/>
        </p:nvSpPr>
        <p:spPr>
          <a:xfrm>
            <a:off x="5577840" y="1298448"/>
            <a:ext cx="905256" cy="182880"/>
          </a:xfrm>
          <a:prstGeom prst="roundRect">
            <a:avLst>
              <a:gd name="adj" fmla="val 20000"/>
            </a:avLst>
          </a:prstGeom>
          <a:solidFill>
            <a:srgbClr val="4A31AE"/>
          </a:solidFill>
          <a:ln/>
        </p:spPr>
      </p:sp>
      <p:sp>
        <p:nvSpPr>
          <p:cNvPr id="12" name="Text 9"/>
          <p:cNvSpPr/>
          <p:nvPr/>
        </p:nvSpPr>
        <p:spPr>
          <a:xfrm>
            <a:off x="6528816" y="12801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77840" y="15910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1810512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577840" y="1810512"/>
            <a:ext cx="754380" cy="182880"/>
          </a:xfrm>
          <a:prstGeom prst="roundRect">
            <a:avLst>
              <a:gd name="adj" fmla="val 20000"/>
            </a:avLst>
          </a:prstGeom>
          <a:solidFill>
            <a:srgbClr val="6D54DE"/>
          </a:solidFill>
          <a:ln/>
        </p:spPr>
      </p:sp>
      <p:sp>
        <p:nvSpPr>
          <p:cNvPr id="16" name="Text 13"/>
          <p:cNvSpPr/>
          <p:nvPr/>
        </p:nvSpPr>
        <p:spPr>
          <a:xfrm>
            <a:off x="6377940" y="17922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77840" y="21031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2322576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19" name="Shape 16"/>
          <p:cNvSpPr/>
          <p:nvPr/>
        </p:nvSpPr>
        <p:spPr>
          <a:xfrm>
            <a:off x="5577840" y="2322576"/>
            <a:ext cx="603504" cy="18288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/>
        </p:spPr>
      </p:sp>
      <p:sp>
        <p:nvSpPr>
          <p:cNvPr id="20" name="Text 17"/>
          <p:cNvSpPr/>
          <p:nvPr/>
        </p:nvSpPr>
        <p:spPr>
          <a:xfrm>
            <a:off x="6227064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261518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2834640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577840" y="2834640"/>
            <a:ext cx="452628" cy="1828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4" name="Text 21"/>
          <p:cNvSpPr/>
          <p:nvPr/>
        </p:nvSpPr>
        <p:spPr>
          <a:xfrm>
            <a:off x="6076188" y="28163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77840" y="3127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77840" y="3346704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577840" y="334670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28" name="Text 25"/>
          <p:cNvSpPr/>
          <p:nvPr/>
        </p:nvSpPr>
        <p:spPr>
          <a:xfrm>
            <a:off x="5925312" y="33284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3767328"/>
            <a:ext cx="3246120" cy="713232"/>
          </a:xfrm>
          <a:prstGeom prst="roundRect">
            <a:avLst>
              <a:gd name="adj" fmla="val 11538"/>
            </a:avLst>
          </a:prstGeom>
          <a:solidFill>
            <a:srgbClr val="4A31A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577840" y="378561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Scorecard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23560" y="4005072"/>
            <a:ext cx="31546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rank across 5 metrics → single 0–100 score for every fund scheme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33" name="Text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|  Benchmark Comparison &amp; Risk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389120" cy="2788920"/>
          </a:xfrm>
          <a:prstGeom prst="roundRect">
            <a:avLst>
              <a:gd name="adj" fmla="val 3279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778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8: Benchmark Comparison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NAV vs BENCHMARK COMPARISON 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SCORECARD TOP-10 TABLE IMAGE HERE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9204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Findings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117043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234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Range: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12161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– 1.89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472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risk-adjusted return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92040" y="184708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911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Range: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892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-4.2% to +8.7%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148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beats Nifty 100 benchmark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92040" y="252374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587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Range: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2569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– 1.35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825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= less volatile than market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32644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3246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-18% to -42%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502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worst in Oct–Nov 2024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3767328"/>
            <a:ext cx="832104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(95%):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Cap: −2.1% to −2.8% daily  •  Large Cap: −1.3% to −1.6% daily  •  </a:t>
            </a:r>
            <a:r>
              <a:rPr lang="en-US" sz="9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is 1.3–1.5× worse than VaR — fat tail risk persists in mid/small cap funds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030C349-F60F-4F98-BDCD-67668F101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9" y="1170790"/>
            <a:ext cx="3964366" cy="23130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|  Power BI Dashboard — Page 1 &amp;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· Cross-filterable · Drill-through enabled · Bluestock brand theme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6782"/>
            <a:ext cx="4206240" cy="2730222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1 SCREENSHOT HERE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5101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3503" y="3520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 •  AUM trend line  •  AUM by AMC bar  •  Market share donut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206240" cy="2678012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78992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389888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2 SCREENSHOT HERE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6027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Fund House, Category, Plan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82553" y="35558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Return scatter  •  Scorecard table  •  NAV line chart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8503920" cy="621792"/>
          </a:xfrm>
          <a:prstGeom prst="roundRect">
            <a:avLst>
              <a:gd name="adj" fmla="val 10294"/>
            </a:avLst>
          </a:prstGeom>
          <a:solidFill>
            <a:srgbClr val="6D54DE">
              <a:alpha val="4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950208"/>
            <a:ext cx="8321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Drill-Through: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any fund name in Page 2 table → </a:t>
            </a: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through → Nav_Detail  </a:t>
            </a:r>
            <a:r>
              <a:rPr lang="en-US" sz="9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 fund-specific NAV trend + metrics page filtered automatically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74C7640-6368-45D1-A730-743F41425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94" y="1433690"/>
            <a:ext cx="3922331" cy="20776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A76AB2-8A65-44CC-8867-05AF13E3B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467" y="1433690"/>
            <a:ext cx="3809625" cy="20958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Power BI Dashboard — Page 3 &amp;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2606040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40233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3 SCREENSHOT HERE 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4340" y="32049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State, Age Group, City Tier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46020" y="32049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by state  •  SIP/Lump/Redemption donut  •  Age group bar  •  Volume line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2606040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133856"/>
            <a:ext cx="40233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4 SCREENSHOT HERE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32049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slicer (full-period view)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0" y="32049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bar + Nifty 50 dual-axis  •  Category heatmap  •  Top 5 bar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8503920" cy="219456"/>
          </a:xfrm>
          <a:prstGeom prst="roundRect">
            <a:avLst>
              <a:gd name="adj" fmla="val 16667"/>
            </a:avLst>
          </a:prstGeom>
          <a:solidFill>
            <a:srgbClr val="4A31A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65760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 Rs.81L Cr Total AUM  •  Rs.31K Cr SIP Inflow  •  26.12 Cr Folios  •  1,908 Schemes  •  9.35 Cr Active SIP A/Cs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9684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005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Cross-Filtering: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45920" y="4005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visual to filter all others on the page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9684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005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Tooltips: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chart point → scheme name, Sharpe, Alpha, AUM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4256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4622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Drill-Through: 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45920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fund → Nav_Detail page filtered to that fund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44256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4622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89320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 / Category / Plan / State / Age / City Tier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4B8EB77-5025-41D9-8EE2-3A7CD5BA1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6" y="1173824"/>
            <a:ext cx="3887674" cy="197628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78B0EA7-117D-4A43-B0C3-0CE5C4518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77619"/>
            <a:ext cx="4023359" cy="19724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10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229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85953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8595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2376" y="850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Is Structural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2376" y="1042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Inflows 3× from Rs.11K→Rs.31K Cr with no reversal, even during corrections.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22960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8229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85953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8595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65776" y="850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Unassailable AUM Lead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65776" y="1042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doubled to Rs.12.5L Cr in 3 yrs via govt-bank B30 distribution.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1389888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389888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13898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86200" y="14264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14264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" y="1417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Participation Doubled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" y="16093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Folios: 13.26 Cr → 26.12 Cr, 18.5% CAGR — digital platforms key driver.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1389888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389888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3898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14264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14264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65776" y="1417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Over-Correlated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65776" y="16093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0.85–0.95 correlation means SBI Bluechip + HDFC Top 100 = no diversification.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1956816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1956816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195681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86200" y="19933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886200" y="1993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2376" y="1984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BFSI+IT = 50% Portfolio 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" y="2176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32% + IT 18% — sector concentration creates systemic risk.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63440" y="1956816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1956816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195681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0" y="19933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1993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65776" y="1984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Dominate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65776" y="2176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SIP value from T30. Maharashtra 20%+. B30 growing at 28% share.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040" y="2523744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2523744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25237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86200" y="256032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886200" y="25603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22376" y="2551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Tax-Season ELSS Spike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2376" y="27432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Jan–Mar surge driven by 80C tax-saving deadline Mar 31.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63440" y="2523744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2523744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25237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0" y="256032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0" y="25603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065776" y="2551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Bull Run Rewarded SIPs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65776" y="27432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investors averaged into low NAVs in 2022 → captured 15–22% recovery.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0040" y="3090672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" y="3090672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64" name="Text 62"/>
          <p:cNvSpPr/>
          <p:nvPr/>
        </p:nvSpPr>
        <p:spPr>
          <a:xfrm>
            <a:off x="320040" y="309067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886200" y="312724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3886200" y="3127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22376" y="31181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Investors Invest Most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22376" y="33101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 age: Rs.12,000/mo median SIP vs Rs.5,000 for 26–35.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63440" y="3090672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63440" y="3090672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71" name="Text 69"/>
          <p:cNvSpPr/>
          <p:nvPr/>
        </p:nvSpPr>
        <p:spPr>
          <a:xfrm>
            <a:off x="4663440" y="309067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229600" y="312724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229600" y="3127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065776" y="31181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SIP Investors At-Risk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065776" y="33101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SIP gap &gt; 35 days — need targeted re-engagement campaigns.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Capstone Project</a:t>
            </a:r>
            <a:endParaRPr lang="en-US" sz="1000" dirty="0"/>
          </a:p>
        </p:txBody>
      </p:sp>
      <p:pic>
        <p:nvPicPr>
          <p:cNvPr id="4" name="Image 0" descr="./submission/logo int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21792"/>
            <a:ext cx="329184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2212848"/>
            <a:ext cx="5486400" cy="36576"/>
          </a:xfrm>
          <a:prstGeom prst="rect">
            <a:avLst/>
          </a:prstGeom>
          <a:solidFill>
            <a:srgbClr val="6D54DE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35915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6D54DE">
              <a:alpha val="3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github.com/sumeetwagh01/bluestock_mf_capstone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91840" y="235915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6D54DE">
              <a:alpha val="3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sumeetw940@gmail.com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235915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6D54DE">
              <a:alpha val="3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bluestock.in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3246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4A31A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Summary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4360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94360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746504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746504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746504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746504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.db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898648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898648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898648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898648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050792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050792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050792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Metrics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050792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.ipynb+CSV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202936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202936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202936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202936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355080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355080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355080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Analytics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6355080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7507224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507224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507224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Report+Slides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507224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.pdf+.pptx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48" name="Text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Status: COMPLETE  •  GitHub Tag: v1.0  •  Confidential — Bluestock Fintech Pvt. Ltd.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2406</Words>
  <Application>Microsoft Office PowerPoint</Application>
  <PresentationFormat>On-screen Show (16:9)</PresentationFormat>
  <Paragraphs>357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Platform</dc:title>
  <dc:subject>PptxGenJS Presentation</dc:subject>
  <dc:creator>Sumeet Wagh</dc:creator>
  <cp:lastModifiedBy>Sumeet Wagh</cp:lastModifiedBy>
  <cp:revision>6</cp:revision>
  <dcterms:created xsi:type="dcterms:W3CDTF">2026-06-11T14:17:44Z</dcterms:created>
  <dcterms:modified xsi:type="dcterms:W3CDTF">2026-06-12T05:36:40Z</dcterms:modified>
</cp:coreProperties>
</file>